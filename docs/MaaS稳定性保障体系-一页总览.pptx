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一页讲法：右侧先看最上面的四个量化目标——可用性 99.9%、故障发现小于 1 分钟、故障隔离与恢复小于 30 分钟、灰度覆盖 100%；下面是四个模块的措施与建设状态，讲的时候按状态胶囊区分哪些已具备、哪些在补。左侧是四个模块的主干链路示意——高可用从请求到双 AZ 副本再到 GPU 池，重点是限流熔断和多副本；监控从采集、AIOps 到分级告警、值班；灰度从金丝雀逐级放量到全量，配质量门禁和自动回滚；日常巡检做定期体检——健康巡检、容量巡检、隐患治理、演练复盘。底部一句话收束。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MaaS 平台 · 业务稳定性保障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30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稳定性保障体系 · 一页总览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21208" y="1005840"/>
            <a:ext cx="12344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732520" y="65836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架构示意 · 指标均为目标值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6720840" cy="4700016"/>
          </a:xfrm>
          <a:prstGeom prst="roundRect">
            <a:avLst>
              <a:gd name="adj" fmla="val 17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5331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0304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533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架构示意 · 主干链路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830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21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 · 防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83080" y="1783080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9928" y="178308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客户请求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71800" y="1993392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08960" y="1783080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78308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网关限流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993392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34840" y="1783080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E8F0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178308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双AZ副本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1993392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60720" y="1783080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178308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GPU资源池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2350008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AZ 故障无感切换 · 备用模型自动兜底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2807208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C7741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8072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 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24612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事中 · 测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783080" y="2807208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9928" y="2807208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指标日志链路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71800" y="30175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08960" y="2807208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2807208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AIOps检测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30175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34840" y="2807208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DF1DC"/>
          </a:solidFill>
          <a:ln w="15875">
            <a:solidFill>
              <a:srgbClr val="C774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61688" y="2807208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7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分级告警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30175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760720" y="2807208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2807208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值班处置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83080" y="3374136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先于客户发现 · 自动区分模型 / 资源 / 网络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" y="3831336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6D4AC8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8313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 度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42702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 · 控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783080" y="3831336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9928" y="3831336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CI构建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971800" y="4041648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108960" y="3831336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EFE9FA"/>
          </a:solidFill>
          <a:ln w="15875">
            <a:solidFill>
              <a:srgbClr val="6D4A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35808" y="3831336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4A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金丝雀1%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297680" y="4041648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434840" y="3831336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61688" y="3831336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灰度放量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4041648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760720" y="3831336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87568" y="3831336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全量发布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 flipH="1">
            <a:off x="2368296" y="4434840"/>
            <a:ext cx="3977640" cy="0"/>
          </a:xfrm>
          <a:prstGeom prst="line">
            <a:avLst/>
          </a:prstGeom>
          <a:noFill/>
          <a:ln w="15875">
            <a:solidFill>
              <a:srgbClr val="C4402F"/>
            </a:solidFill>
            <a:prstDash val="dash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1783080" y="4453128"/>
            <a:ext cx="5148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4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质量门禁拦截 · 异常自动回滚（分钟级）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" y="4855464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0E7A55"/>
          </a:solidFill>
          <a:ln/>
        </p:spPr>
      </p:sp>
      <p:sp>
        <p:nvSpPr>
          <p:cNvPr id="56" name="Text 54"/>
          <p:cNvSpPr/>
          <p:nvPr/>
        </p:nvSpPr>
        <p:spPr>
          <a:xfrm>
            <a:off x="685800" y="48554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日常巡检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5800" y="52943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 · 巡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783080" y="4855464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09928" y="485546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健康巡检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71800" y="5065776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108960" y="4855464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35808" y="485546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容量巡检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297680" y="5065776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434840" y="4855464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DFF3EA"/>
          </a:solidFill>
          <a:ln w="15875">
            <a:solidFill>
              <a:srgbClr val="0E7A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61688" y="485546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隐患治理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623560" y="5065776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5760720" y="4855464"/>
            <a:ext cx="117043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87568" y="4855464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演练复盘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 flipH="1">
            <a:off x="2368296" y="5458968"/>
            <a:ext cx="3977640" cy="0"/>
          </a:xfrm>
          <a:prstGeom prst="line">
            <a:avLst/>
          </a:prstGeom>
          <a:noFill/>
          <a:ln w="15875">
            <a:solidFill>
              <a:srgbClr val="0E7A55"/>
            </a:solidFill>
            <a:prstDash val="dash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1783080" y="5477256"/>
            <a:ext cx="5148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隐患建档跟踪 · 闭环整改不遗留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388352" y="1207008"/>
            <a:ext cx="4297680" cy="4700016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589520" y="1353312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0304F"/>
          </a:solidFill>
          <a:ln/>
        </p:spPr>
      </p:sp>
      <p:sp>
        <p:nvSpPr>
          <p:cNvPr id="73" name="Text 71"/>
          <p:cNvSpPr/>
          <p:nvPr/>
        </p:nvSpPr>
        <p:spPr>
          <a:xfrm>
            <a:off x="7589520" y="13533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 障 总 结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7589520" y="1810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 化 目 标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589520" y="2121408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17536" y="2176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99.9%</a:t>
            </a:r>
            <a:endParaRPr lang="en-US" sz="1450" dirty="0"/>
          </a:p>
        </p:txBody>
      </p:sp>
      <p:sp>
        <p:nvSpPr>
          <p:cNvPr id="77" name="Text 75"/>
          <p:cNvSpPr/>
          <p:nvPr/>
        </p:nvSpPr>
        <p:spPr>
          <a:xfrm>
            <a:off x="7717536" y="2450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服务可用性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592056" y="2121408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9525">
            <a:solidFill>
              <a:srgbClr val="C7741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20072" y="21762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 min</a:t>
            </a:r>
            <a:endParaRPr lang="en-US" sz="1450" dirty="0"/>
          </a:p>
        </p:txBody>
      </p:sp>
      <p:sp>
        <p:nvSpPr>
          <p:cNvPr id="80" name="Text 78"/>
          <p:cNvSpPr/>
          <p:nvPr/>
        </p:nvSpPr>
        <p:spPr>
          <a:xfrm>
            <a:off x="9720072" y="2450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故障发现 MTTD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589520" y="2779776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DFF3EA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717536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30 min</a:t>
            </a:r>
            <a:endParaRPr lang="en-US" sz="1450" dirty="0"/>
          </a:p>
        </p:txBody>
      </p:sp>
      <p:sp>
        <p:nvSpPr>
          <p:cNvPr id="83" name="Text 81"/>
          <p:cNvSpPr/>
          <p:nvPr/>
        </p:nvSpPr>
        <p:spPr>
          <a:xfrm>
            <a:off x="7717536" y="31089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故障隔离与恢复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592056" y="2779776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EFE9FA"/>
          </a:solidFill>
          <a:ln w="9525">
            <a:solidFill>
              <a:srgbClr val="6D4AC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720072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4A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450" dirty="0"/>
          </a:p>
        </p:txBody>
      </p:sp>
      <p:sp>
        <p:nvSpPr>
          <p:cNvPr id="86" name="Text 84"/>
          <p:cNvSpPr/>
          <p:nvPr/>
        </p:nvSpPr>
        <p:spPr>
          <a:xfrm>
            <a:off x="9720072" y="31089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变更灰度覆盖率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589520" y="3493008"/>
            <a:ext cx="389534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Text 86"/>
          <p:cNvSpPr/>
          <p:nvPr/>
        </p:nvSpPr>
        <p:spPr>
          <a:xfrm>
            <a:off x="7589520" y="35844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 心 举 措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589520" y="3931920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9525">
            <a:solidFill>
              <a:srgbClr val="C7741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89520" y="39319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 建设中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558784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高可用　</a:t>
            </a:r>
            <a:pPr indent="0" marL="0">
              <a:buNone/>
            </a:pPr>
            <a:r>
              <a:rPr lang="en-US" sz="115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冗余防护，故障不扩散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7589520" y="4352544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9525">
            <a:solidFill>
              <a:srgbClr val="0E7A5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89520" y="435254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已具备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558784" y="4334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7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 控　</a:t>
            </a:r>
            <a:pPr indent="0" marL="0">
              <a:buNone/>
            </a:pPr>
            <a:r>
              <a:rPr lang="en-US" sz="115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全链路观测，先于客户发现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7589520" y="4773168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9525">
            <a:solidFill>
              <a:srgbClr val="C7741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89520" y="47731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 建设中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558784" y="4754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A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 度　</a:t>
            </a:r>
            <a:pPr indent="0" marL="0">
              <a:buNone/>
            </a:pPr>
            <a:r>
              <a:rPr lang="en-US" sz="115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逐级放量 + 门禁回滚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7589520" y="519379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5B6B7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89520" y="519379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待完善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8558784" y="51755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日常巡检　</a:t>
            </a:r>
            <a:pPr indent="0" marL="0">
              <a:buNone/>
            </a:pPr>
            <a:r>
              <a:rPr lang="en-US" sz="1150" dirty="0">
                <a:solidFill>
                  <a:srgbClr val="2430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定期体检，隐患闭环治理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7589520" y="561441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四模块衔接成闭环，覆盖故障全生命周期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02920" y="6035040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10304F"/>
          </a:solidFill>
          <a:ln/>
        </p:spPr>
      </p:sp>
      <p:sp>
        <p:nvSpPr>
          <p:cNvPr id="103" name="Text 101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事前防（高可用）· 事中测（监控）· 变更控（灰度）· 日常巡（巡检）—— 少发生 · 快发现 · 控得住 · 早消除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521208" y="64190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指标均为目标承诺值，可按业务分级与客户 SLA 细化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MaaS 稳定性保障体系一页总览</dc:title>
  <dc:subject>PptxGenJS Presentation</dc:subject>
  <dc:creator>MaaS 平台团队</dc:creator>
  <cp:lastModifiedBy>MaaS 平台团队</cp:lastModifiedBy>
  <cp:revision>1</cp:revision>
  <dcterms:created xsi:type="dcterms:W3CDTF">2026-10-12T09:56:27Z</dcterms:created>
  <dcterms:modified xsi:type="dcterms:W3CDTF">2026-10-12T09:56:27Z</dcterms:modified>
</cp:coreProperties>
</file>